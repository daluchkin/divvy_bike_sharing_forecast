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12192000" cy="6858000"/>
  <p:notesSz cx="6858000" cy="9144000"/>
  <p:defaultTextStyle>
    <a:defPPr>
      <a:defRPr lang="en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466"/>
    <p:restoredTop sz="94680"/>
  </p:normalViewPr>
  <p:slideViewPr>
    <p:cSldViewPr snapToGrid="0">
      <p:cViewPr varScale="1">
        <p:scale>
          <a:sx n="137" d="100"/>
          <a:sy n="137" d="100"/>
        </p:scale>
        <p:origin x="216" y="10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N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BF0393C-EE02-9F45-9A2B-7F4AFF6DAEEC}" type="datetimeFigureOut">
              <a:rPr lang="en-NL" smtClean="0"/>
              <a:t>17/04/2025</a:t>
            </a:fld>
            <a:endParaRPr lang="en-N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N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2333695-C947-CC42-AEB3-4B549FCEBA77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0551593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F5BD0F-7147-8E10-67BE-277BDAB685F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BFA83EF-D480-3E25-3FF1-94B37A85A0E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B73C15-7F57-ADFE-13C1-F6D9E94FAE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6A08FF-52C1-AC4B-874F-8C509BB53652}" type="datetimeFigureOut">
              <a:rPr lang="en-NL" smtClean="0"/>
              <a:t>30/03/2025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2EDF9F-EE9D-0889-9542-8C1AF8F017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BDD97D-6304-A8B9-193F-93DFC39DCD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383738-43DC-3342-8C42-F995CE13A649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6628280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91EE2B-EE0B-E53C-C8C3-E6FBB65589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0C2D3A-F1A8-5BBC-0573-75B5CBE8BC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D3091A-D037-CA51-24FC-043E393376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6A08FF-52C1-AC4B-874F-8C509BB53652}" type="datetimeFigureOut">
              <a:rPr lang="en-NL" smtClean="0"/>
              <a:t>30/03/2025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B0F828-999F-C0AB-95EC-B053DD2905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AD3439-4730-DE70-8619-1926925BC7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383738-43DC-3342-8C42-F995CE13A649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7888309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62C058-CB64-A140-D14A-4BED8778DA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F73EB3-8B13-C4F5-0DE3-FC3A40FE8D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1C5B8B-BD65-BD96-D7D8-64DDC69480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6A08FF-52C1-AC4B-874F-8C509BB53652}" type="datetimeFigureOut">
              <a:rPr lang="en-NL" smtClean="0"/>
              <a:t>30/03/2025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CC3BBC-540A-9A80-7249-E2DF60347C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A7C319-6355-7A2C-E327-7AE2B7777C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383738-43DC-3342-8C42-F995CE13A649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9080392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970713-48D4-FEFB-6CD4-0FF5917781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07C802-12F3-66A2-44FA-D5B87EE4D2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F29F933-C2E5-EE7A-8471-A92776ECD6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6C96A0-7AB9-E242-7FEE-D7863F0CE9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6A08FF-52C1-AC4B-874F-8C509BB53652}" type="datetimeFigureOut">
              <a:rPr lang="en-NL" smtClean="0"/>
              <a:t>30/03/2025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E4172E3-277D-8281-F64D-26061A041B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3B3055-002C-9445-067A-5EA5E253D1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383738-43DC-3342-8C42-F995CE13A649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824019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15FECC-E5E6-CA0A-392F-87A221FBEB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C2684B-9A2A-1841-5F56-00E17C427E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DC37BC5-AE79-6295-B5FE-64163E3B43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164F07D-2EBD-98B9-C7CE-ABCA8536EF8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22663DD-DEEE-5050-F3A8-4092078E109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222F9A0-77A2-5CCB-B546-35B2749E70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6A08FF-52C1-AC4B-874F-8C509BB53652}" type="datetimeFigureOut">
              <a:rPr lang="en-NL" smtClean="0"/>
              <a:t>30/03/2025</a:t>
            </a:fld>
            <a:endParaRPr lang="en-N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DBE1284-F004-BCD9-4AC3-23E55F0023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5FAC54A-A099-C7D6-6D24-2C62BC6940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383738-43DC-3342-8C42-F995CE13A649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5156087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7D6FE2-CAC9-373A-EA5C-DFD4148BA0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B4E80B3-866F-DD65-5521-AB3B957FDF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6A08FF-52C1-AC4B-874F-8C509BB53652}" type="datetimeFigureOut">
              <a:rPr lang="en-NL" smtClean="0"/>
              <a:t>30/03/2025</a:t>
            </a:fld>
            <a:endParaRPr lang="en-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920D977-C59D-423C-D484-7223905AB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BC819F-34D6-86B1-A3DD-6C368DC22B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383738-43DC-3342-8C42-F995CE13A649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1570381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6215B04-1854-60CA-A8BE-5B6077B272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6A08FF-52C1-AC4B-874F-8C509BB53652}" type="datetimeFigureOut">
              <a:rPr lang="en-NL" smtClean="0"/>
              <a:t>30/03/2025</a:t>
            </a:fld>
            <a:endParaRPr lang="en-N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5B8ECD1-0D2A-EEC6-7115-285410E911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C7BFCF-6209-EAE8-A5EA-DB6C7A4F3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383738-43DC-3342-8C42-F995CE13A649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1054798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4F0E9C-113E-441A-8F8D-8B24F0DC64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08B5ED-F82A-DAB0-8E64-68550528BD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EA953FB-BBDA-F442-0209-9DB58D4387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B41AF0-78ED-3E39-CE87-F223A339A4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6A08FF-52C1-AC4B-874F-8C509BB53652}" type="datetimeFigureOut">
              <a:rPr lang="en-NL" smtClean="0"/>
              <a:t>30/03/2025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59732F-B9D0-490E-B909-DA7A5092CA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2C0ACDD-89B5-7E56-6506-7008A5777B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383738-43DC-3342-8C42-F995CE13A649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8310265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E91E46-3150-618E-A0DD-C739C097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064E951-524F-0A62-7367-200DE7A160B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39BF8D6-86AF-B93D-9AE8-B8DCD3AA1ED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F804460-1207-E7D8-E888-999645123F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6A08FF-52C1-AC4B-874F-8C509BB53652}" type="datetimeFigureOut">
              <a:rPr lang="en-NL" smtClean="0"/>
              <a:t>30/03/2025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31DD4B-F53B-2C34-0651-35C3C58EEC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CF461C4-83BA-0CEA-8A31-49260257E8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383738-43DC-3342-8C42-F995CE13A649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2714059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BF2448-304D-9485-BBED-A4A23B3E09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1E6B00F-1B92-E69A-A063-E7E9C4B1219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ED02C8-7D2A-5913-E020-293540CDB6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6A08FF-52C1-AC4B-874F-8C509BB53652}" type="datetimeFigureOut">
              <a:rPr lang="en-NL" smtClean="0"/>
              <a:t>30/03/2025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EAB3B2-EC9B-A79C-27B3-003BC72C68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9D4AE9-C136-4CE0-3AE4-5811A182A2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383738-43DC-3342-8C42-F995CE13A649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6943935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8D6D9C5-011E-055C-7298-58925156617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1D26A6E-0186-DE9A-F175-948C4AC36D7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BC411E-765C-813A-C619-E0ABBE7C14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6A08FF-52C1-AC4B-874F-8C509BB53652}" type="datetimeFigureOut">
              <a:rPr lang="en-NL" smtClean="0"/>
              <a:t>30/03/2025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3E2028-4092-F300-43F9-CC8E6ADE5D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998989-B9B4-FE60-83F7-20CB6F4387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383738-43DC-3342-8C42-F995CE13A649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878105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97BA318-4183-D166-7F50-C92EE83200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EA66F8-F446-C32F-1E11-D77DF85F55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C7DA7D-8E03-11EF-69A2-576E9282855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E6A08FF-52C1-AC4B-874F-8C509BB53652}" type="datetimeFigureOut">
              <a:rPr lang="en-NL" smtClean="0"/>
              <a:t>30/03/2025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7492EB-887A-B97D-EC57-BEC122B0CED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B0584F-D241-AB53-4BEF-7FC86157969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9383738-43DC-3342-8C42-F995CE13A649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8863382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Down Arrow 72">
            <a:extLst>
              <a:ext uri="{FF2B5EF4-FFF2-40B4-BE49-F238E27FC236}">
                <a16:creationId xmlns:a16="http://schemas.microsoft.com/office/drawing/2014/main" id="{7A5737F1-1788-2121-6D4A-FA66CA220AA0}"/>
              </a:ext>
            </a:extLst>
          </p:cNvPr>
          <p:cNvSpPr/>
          <p:nvPr/>
        </p:nvSpPr>
        <p:spPr>
          <a:xfrm rot="10800000">
            <a:off x="200998" y="1227795"/>
            <a:ext cx="761695" cy="2303707"/>
          </a:xfrm>
          <a:prstGeom prst="downArrow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9293FE3-9DA4-E8E3-3D09-E4E1256546FC}"/>
              </a:ext>
            </a:extLst>
          </p:cNvPr>
          <p:cNvSpPr/>
          <p:nvPr/>
        </p:nvSpPr>
        <p:spPr>
          <a:xfrm>
            <a:off x="1265526" y="2724665"/>
            <a:ext cx="2298673" cy="1408670"/>
          </a:xfrm>
          <a:prstGeom prst="rect">
            <a:avLst/>
          </a:prstGeom>
          <a:ln w="76200">
            <a:solidFill>
              <a:schemeClr val="accent6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NL" dirty="0"/>
              <a:t>Casual/Regular Forecast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A4A5AF0-9627-41CF-599E-57E893FD814C}"/>
              </a:ext>
            </a:extLst>
          </p:cNvPr>
          <p:cNvSpPr/>
          <p:nvPr/>
        </p:nvSpPr>
        <p:spPr>
          <a:xfrm>
            <a:off x="3921027" y="2724665"/>
            <a:ext cx="2298673" cy="1408670"/>
          </a:xfrm>
          <a:prstGeom prst="rect">
            <a:avLst/>
          </a:prstGeom>
          <a:ln w="76200">
            <a:solidFill>
              <a:schemeClr val="accent6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NL" dirty="0"/>
              <a:t>Casual/Electric Forecast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0176FE6-DE7E-7E6F-DA6E-D328AEE73267}"/>
              </a:ext>
            </a:extLst>
          </p:cNvPr>
          <p:cNvSpPr/>
          <p:nvPr/>
        </p:nvSpPr>
        <p:spPr>
          <a:xfrm>
            <a:off x="6576528" y="2724665"/>
            <a:ext cx="2298673" cy="1408670"/>
          </a:xfrm>
          <a:prstGeom prst="rect">
            <a:avLst/>
          </a:prstGeom>
          <a:ln w="76200">
            <a:solidFill>
              <a:schemeClr val="accent6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NL" dirty="0"/>
              <a:t>Member/Regular Forecast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76140E5-7B0C-8263-1981-06650127068D}"/>
              </a:ext>
            </a:extLst>
          </p:cNvPr>
          <p:cNvSpPr/>
          <p:nvPr/>
        </p:nvSpPr>
        <p:spPr>
          <a:xfrm>
            <a:off x="9232029" y="2724665"/>
            <a:ext cx="2298673" cy="1408670"/>
          </a:xfrm>
          <a:prstGeom prst="rect">
            <a:avLst/>
          </a:prstGeom>
          <a:ln w="76200">
            <a:solidFill>
              <a:schemeClr val="accent6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NL" dirty="0"/>
              <a:t>Member/Electric Forecast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66AE536-F744-0F56-0BAA-92E00C4DBACA}"/>
              </a:ext>
            </a:extLst>
          </p:cNvPr>
          <p:cNvSpPr txBox="1"/>
          <p:nvPr/>
        </p:nvSpPr>
        <p:spPr>
          <a:xfrm rot="16200000">
            <a:off x="28243" y="3105834"/>
            <a:ext cx="113428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Low-level</a:t>
            </a:r>
          </a:p>
          <a:p>
            <a:r>
              <a:rPr lang="en-NL" dirty="0"/>
              <a:t>forecasts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6230E69-0C73-D45F-1ECF-B0BA10FB244D}"/>
              </a:ext>
            </a:extLst>
          </p:cNvPr>
          <p:cNvSpPr/>
          <p:nvPr/>
        </p:nvSpPr>
        <p:spPr>
          <a:xfrm>
            <a:off x="1265526" y="5097751"/>
            <a:ext cx="2298673" cy="7200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NL" dirty="0"/>
              <a:t>Casual Total Forecast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D6A2985-8C7C-0F4B-B235-69AA04413ECD}"/>
              </a:ext>
            </a:extLst>
          </p:cNvPr>
          <p:cNvSpPr/>
          <p:nvPr/>
        </p:nvSpPr>
        <p:spPr>
          <a:xfrm>
            <a:off x="9232028" y="5054500"/>
            <a:ext cx="2298673" cy="7200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NL" dirty="0"/>
              <a:t>Member Total Forecast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C03D8F6-3276-CDDD-E0C3-FF003436BD61}"/>
              </a:ext>
            </a:extLst>
          </p:cNvPr>
          <p:cNvSpPr/>
          <p:nvPr/>
        </p:nvSpPr>
        <p:spPr>
          <a:xfrm>
            <a:off x="3866313" y="5097750"/>
            <a:ext cx="2298673" cy="7200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NL" dirty="0"/>
              <a:t>Regular Total Forecast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70E05C7-5BDC-C223-2539-58582CDD7E67}"/>
              </a:ext>
            </a:extLst>
          </p:cNvPr>
          <p:cNvSpPr/>
          <p:nvPr/>
        </p:nvSpPr>
        <p:spPr>
          <a:xfrm>
            <a:off x="6576528" y="5097751"/>
            <a:ext cx="2298673" cy="7200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NL" dirty="0"/>
              <a:t>Electric T</a:t>
            </a:r>
            <a:r>
              <a:rPr lang="en-GB" dirty="0"/>
              <a:t>o</a:t>
            </a:r>
            <a:r>
              <a:rPr lang="en-NL" dirty="0"/>
              <a:t>tal Forecast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6DAFD6B-DC82-A664-0F94-F191991B5138}"/>
              </a:ext>
            </a:extLst>
          </p:cNvPr>
          <p:cNvSpPr txBox="1"/>
          <p:nvPr/>
        </p:nvSpPr>
        <p:spPr>
          <a:xfrm rot="16200000">
            <a:off x="93869" y="5134584"/>
            <a:ext cx="10030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Cross</a:t>
            </a:r>
          </a:p>
          <a:p>
            <a:pPr algn="ctr"/>
            <a:r>
              <a:rPr lang="en-GB" dirty="0"/>
              <a:t>forecast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2210BA9-8678-EA20-D75F-B92098158102}"/>
              </a:ext>
            </a:extLst>
          </p:cNvPr>
          <p:cNvSpPr/>
          <p:nvPr/>
        </p:nvSpPr>
        <p:spPr>
          <a:xfrm>
            <a:off x="5214363" y="1128190"/>
            <a:ext cx="2298673" cy="7200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NL" dirty="0"/>
              <a:t>Total Forecast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9EEE2613-B1E0-2A81-110C-B0163A54BAEA}"/>
              </a:ext>
            </a:extLst>
          </p:cNvPr>
          <p:cNvCxnSpPr>
            <a:cxnSpLocks/>
            <a:stCxn id="6" idx="0"/>
            <a:endCxn id="14" idx="2"/>
          </p:cNvCxnSpPr>
          <p:nvPr/>
        </p:nvCxnSpPr>
        <p:spPr>
          <a:xfrm rot="16200000" flipV="1">
            <a:off x="6606546" y="1605345"/>
            <a:ext cx="876475" cy="136216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975ECCF7-59B7-6E45-288F-C06E90353C55}"/>
              </a:ext>
            </a:extLst>
          </p:cNvPr>
          <p:cNvCxnSpPr>
            <a:cxnSpLocks/>
            <a:stCxn id="7" idx="0"/>
            <a:endCxn id="14" idx="2"/>
          </p:cNvCxnSpPr>
          <p:nvPr/>
        </p:nvCxnSpPr>
        <p:spPr>
          <a:xfrm rot="16200000" flipV="1">
            <a:off x="7934296" y="277595"/>
            <a:ext cx="876475" cy="401766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F99C4ED-230A-C946-AEAB-295955C66974}"/>
              </a:ext>
            </a:extLst>
          </p:cNvPr>
          <p:cNvCxnSpPr>
            <a:cxnSpLocks/>
            <a:stCxn id="5" idx="0"/>
            <a:endCxn id="14" idx="2"/>
          </p:cNvCxnSpPr>
          <p:nvPr/>
        </p:nvCxnSpPr>
        <p:spPr>
          <a:xfrm rot="5400000" flipH="1" flipV="1">
            <a:off x="5278795" y="1639760"/>
            <a:ext cx="876475" cy="129333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0B724B2A-8257-C293-A7A2-D0BC5EC3EB68}"/>
              </a:ext>
            </a:extLst>
          </p:cNvPr>
          <p:cNvCxnSpPr>
            <a:cxnSpLocks/>
            <a:stCxn id="4" idx="0"/>
            <a:endCxn id="14" idx="2"/>
          </p:cNvCxnSpPr>
          <p:nvPr/>
        </p:nvCxnSpPr>
        <p:spPr>
          <a:xfrm rot="5400000" flipH="1" flipV="1">
            <a:off x="3951044" y="312010"/>
            <a:ext cx="876475" cy="394883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20E481F0-482D-6763-90F8-5421FEEAD476}"/>
              </a:ext>
            </a:extLst>
          </p:cNvPr>
          <p:cNvCxnSpPr>
            <a:cxnSpLocks/>
            <a:stCxn id="4" idx="2"/>
            <a:endCxn id="9" idx="0"/>
          </p:cNvCxnSpPr>
          <p:nvPr/>
        </p:nvCxnSpPr>
        <p:spPr>
          <a:xfrm>
            <a:off x="2414863" y="4133335"/>
            <a:ext cx="0" cy="9644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D79F1761-922B-5497-606E-9B59F23F82F2}"/>
              </a:ext>
            </a:extLst>
          </p:cNvPr>
          <p:cNvCxnSpPr>
            <a:cxnSpLocks/>
            <a:stCxn id="5" idx="2"/>
            <a:endCxn id="9" idx="0"/>
          </p:cNvCxnSpPr>
          <p:nvPr/>
        </p:nvCxnSpPr>
        <p:spPr>
          <a:xfrm flipH="1">
            <a:off x="2414863" y="4133335"/>
            <a:ext cx="2655501" cy="9644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B27F3231-0409-D1EE-E881-079597E1046A}"/>
              </a:ext>
            </a:extLst>
          </p:cNvPr>
          <p:cNvCxnSpPr>
            <a:cxnSpLocks/>
            <a:stCxn id="6" idx="2"/>
            <a:endCxn id="10" idx="0"/>
          </p:cNvCxnSpPr>
          <p:nvPr/>
        </p:nvCxnSpPr>
        <p:spPr>
          <a:xfrm>
            <a:off x="7725865" y="4133335"/>
            <a:ext cx="2655500" cy="92116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7965BFFD-E6B9-33C2-F2E8-B4BC92514BE3}"/>
              </a:ext>
            </a:extLst>
          </p:cNvPr>
          <p:cNvCxnSpPr>
            <a:cxnSpLocks/>
            <a:stCxn id="7" idx="2"/>
            <a:endCxn id="10" idx="0"/>
          </p:cNvCxnSpPr>
          <p:nvPr/>
        </p:nvCxnSpPr>
        <p:spPr>
          <a:xfrm flipH="1">
            <a:off x="10381365" y="4133335"/>
            <a:ext cx="1" cy="92116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BB93D829-0946-228D-4669-180F6BBF99E6}"/>
              </a:ext>
            </a:extLst>
          </p:cNvPr>
          <p:cNvCxnSpPr>
            <a:cxnSpLocks/>
            <a:stCxn id="5" idx="2"/>
            <a:endCxn id="12" idx="0"/>
          </p:cNvCxnSpPr>
          <p:nvPr/>
        </p:nvCxnSpPr>
        <p:spPr>
          <a:xfrm>
            <a:off x="5070364" y="4133335"/>
            <a:ext cx="2655501" cy="9644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07A8F167-27EA-376C-0C3C-3D8DE16909A2}"/>
              </a:ext>
            </a:extLst>
          </p:cNvPr>
          <p:cNvCxnSpPr>
            <a:stCxn id="7" idx="2"/>
            <a:endCxn id="12" idx="0"/>
          </p:cNvCxnSpPr>
          <p:nvPr/>
        </p:nvCxnSpPr>
        <p:spPr>
          <a:xfrm flipH="1">
            <a:off x="7725865" y="4133335"/>
            <a:ext cx="2655501" cy="9644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D0B9D237-884D-5224-0001-BA6A136F9C0C}"/>
              </a:ext>
            </a:extLst>
          </p:cNvPr>
          <p:cNvCxnSpPr>
            <a:cxnSpLocks/>
            <a:stCxn id="6" idx="2"/>
            <a:endCxn id="11" idx="0"/>
          </p:cNvCxnSpPr>
          <p:nvPr/>
        </p:nvCxnSpPr>
        <p:spPr>
          <a:xfrm flipH="1">
            <a:off x="5015650" y="4133335"/>
            <a:ext cx="2710215" cy="96441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D8A5934A-F797-C435-19FB-D7BB94643F76}"/>
              </a:ext>
            </a:extLst>
          </p:cNvPr>
          <p:cNvCxnSpPr>
            <a:cxnSpLocks/>
            <a:stCxn id="4" idx="2"/>
            <a:endCxn id="11" idx="0"/>
          </p:cNvCxnSpPr>
          <p:nvPr/>
        </p:nvCxnSpPr>
        <p:spPr>
          <a:xfrm>
            <a:off x="2414863" y="4133335"/>
            <a:ext cx="2600787" cy="96441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4FC7A8B7-53C7-456E-9EF9-927881F23708}"/>
              </a:ext>
            </a:extLst>
          </p:cNvPr>
          <p:cNvSpPr txBox="1"/>
          <p:nvPr/>
        </p:nvSpPr>
        <p:spPr>
          <a:xfrm rot="16200000">
            <a:off x="-18348" y="1083973"/>
            <a:ext cx="113428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Top-level</a:t>
            </a:r>
          </a:p>
          <a:p>
            <a:r>
              <a:rPr lang="en-NL" dirty="0"/>
              <a:t>forecasts</a:t>
            </a:r>
          </a:p>
        </p:txBody>
      </p: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AC6CF574-1AD2-7A7E-79D8-BA2590700B2B}"/>
              </a:ext>
            </a:extLst>
          </p:cNvPr>
          <p:cNvCxnSpPr/>
          <p:nvPr/>
        </p:nvCxnSpPr>
        <p:spPr>
          <a:xfrm>
            <a:off x="272218" y="2164125"/>
            <a:ext cx="11652052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7F350B56-6571-AB52-21FC-BDC6BE001685}"/>
              </a:ext>
            </a:extLst>
          </p:cNvPr>
          <p:cNvCxnSpPr/>
          <p:nvPr/>
        </p:nvCxnSpPr>
        <p:spPr>
          <a:xfrm>
            <a:off x="269974" y="4615542"/>
            <a:ext cx="11652052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>
            <a:extLst>
              <a:ext uri="{FF2B5EF4-FFF2-40B4-BE49-F238E27FC236}">
                <a16:creationId xmlns:a16="http://schemas.microsoft.com/office/drawing/2014/main" id="{1CB9859D-9706-BDD2-09F3-74A1937E5C34}"/>
              </a:ext>
            </a:extLst>
          </p:cNvPr>
          <p:cNvSpPr txBox="1"/>
          <p:nvPr/>
        </p:nvSpPr>
        <p:spPr>
          <a:xfrm>
            <a:off x="4724557" y="364745"/>
            <a:ext cx="327828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NL" sz="2400" dirty="0"/>
              <a:t>Bottom-Up Approach</a:t>
            </a:r>
          </a:p>
        </p:txBody>
      </p:sp>
    </p:spTree>
    <p:extLst>
      <p:ext uri="{BB962C8B-B14F-4D97-AF65-F5344CB8AC3E}">
        <p14:creationId xmlns:p14="http://schemas.microsoft.com/office/powerpoint/2010/main" val="2442696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54FF23-EBD0-2247-F835-D62E0C6DDF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Down Arrow 30">
            <a:extLst>
              <a:ext uri="{FF2B5EF4-FFF2-40B4-BE49-F238E27FC236}">
                <a16:creationId xmlns:a16="http://schemas.microsoft.com/office/drawing/2014/main" id="{44AA0CF3-823D-37C2-3E8B-996F1818A16D}"/>
              </a:ext>
            </a:extLst>
          </p:cNvPr>
          <p:cNvSpPr/>
          <p:nvPr/>
        </p:nvSpPr>
        <p:spPr>
          <a:xfrm>
            <a:off x="200998" y="1227795"/>
            <a:ext cx="761695" cy="2303707"/>
          </a:xfrm>
          <a:prstGeom prst="downArrow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8DA05AC-2860-28CB-AE94-DBA0411A73B3}"/>
              </a:ext>
            </a:extLst>
          </p:cNvPr>
          <p:cNvSpPr/>
          <p:nvPr/>
        </p:nvSpPr>
        <p:spPr>
          <a:xfrm>
            <a:off x="1265526" y="2724665"/>
            <a:ext cx="2298673" cy="140867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NL" dirty="0"/>
              <a:t>Casual/Regular Forecast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998FD00-95FE-3DB6-2621-16197525495D}"/>
              </a:ext>
            </a:extLst>
          </p:cNvPr>
          <p:cNvSpPr/>
          <p:nvPr/>
        </p:nvSpPr>
        <p:spPr>
          <a:xfrm>
            <a:off x="3921027" y="2724665"/>
            <a:ext cx="2298673" cy="140867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NL" dirty="0"/>
              <a:t>Casual/Electric Forecast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06892BE-5169-6A7A-8FB5-9A71B5C0868D}"/>
              </a:ext>
            </a:extLst>
          </p:cNvPr>
          <p:cNvSpPr/>
          <p:nvPr/>
        </p:nvSpPr>
        <p:spPr>
          <a:xfrm>
            <a:off x="6576528" y="2724665"/>
            <a:ext cx="2298673" cy="140867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NL" dirty="0"/>
              <a:t>Member/Regular Forecast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62EA0BE-B3A8-0691-44AB-971F1376E1B1}"/>
              </a:ext>
            </a:extLst>
          </p:cNvPr>
          <p:cNvSpPr/>
          <p:nvPr/>
        </p:nvSpPr>
        <p:spPr>
          <a:xfrm>
            <a:off x="9232029" y="2724665"/>
            <a:ext cx="2298673" cy="140867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NL" dirty="0"/>
              <a:t>Member/Electric Forecast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B62B305-3E9E-F507-CA15-9F98E2701799}"/>
              </a:ext>
            </a:extLst>
          </p:cNvPr>
          <p:cNvSpPr txBox="1"/>
          <p:nvPr/>
        </p:nvSpPr>
        <p:spPr>
          <a:xfrm rot="16200000">
            <a:off x="28243" y="3105834"/>
            <a:ext cx="113428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Low-level</a:t>
            </a:r>
          </a:p>
          <a:p>
            <a:r>
              <a:rPr lang="en-NL" dirty="0"/>
              <a:t>forecasts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469BFFB-1685-0C65-7AB8-4FDA7E125787}"/>
              </a:ext>
            </a:extLst>
          </p:cNvPr>
          <p:cNvSpPr/>
          <p:nvPr/>
        </p:nvSpPr>
        <p:spPr>
          <a:xfrm>
            <a:off x="1265526" y="5097751"/>
            <a:ext cx="2298673" cy="7200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NL" dirty="0"/>
              <a:t>Casual Total Forecast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6D2E1B2-2938-8DE4-50D3-374F699AB53F}"/>
              </a:ext>
            </a:extLst>
          </p:cNvPr>
          <p:cNvSpPr/>
          <p:nvPr/>
        </p:nvSpPr>
        <p:spPr>
          <a:xfrm>
            <a:off x="9232028" y="5054500"/>
            <a:ext cx="2298673" cy="7200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NL" dirty="0"/>
              <a:t>Member Total Forecast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EA6B449-CF3A-E90C-669F-22E59DE82A2B}"/>
              </a:ext>
            </a:extLst>
          </p:cNvPr>
          <p:cNvSpPr/>
          <p:nvPr/>
        </p:nvSpPr>
        <p:spPr>
          <a:xfrm>
            <a:off x="3866313" y="5097750"/>
            <a:ext cx="2298673" cy="7200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NL" dirty="0"/>
              <a:t>Regular Total Forecast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24CBA0B-24C3-51E0-E800-C8AB0A2E8935}"/>
              </a:ext>
            </a:extLst>
          </p:cNvPr>
          <p:cNvSpPr/>
          <p:nvPr/>
        </p:nvSpPr>
        <p:spPr>
          <a:xfrm>
            <a:off x="6576528" y="5097751"/>
            <a:ext cx="2298673" cy="7200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NL" dirty="0"/>
              <a:t>Electric T</a:t>
            </a:r>
            <a:r>
              <a:rPr lang="en-GB" dirty="0"/>
              <a:t>o</a:t>
            </a:r>
            <a:r>
              <a:rPr lang="en-NL" dirty="0"/>
              <a:t>tal Forecast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FC38758-3BBA-DA11-4B75-A555B57E1CE6}"/>
              </a:ext>
            </a:extLst>
          </p:cNvPr>
          <p:cNvSpPr txBox="1"/>
          <p:nvPr/>
        </p:nvSpPr>
        <p:spPr>
          <a:xfrm rot="16200000">
            <a:off x="93869" y="5140718"/>
            <a:ext cx="10030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Cross</a:t>
            </a:r>
          </a:p>
          <a:p>
            <a:pPr algn="ctr"/>
            <a:r>
              <a:rPr lang="en-GB" dirty="0"/>
              <a:t>forecast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B2333DE-06B9-9583-E621-1E0DB3AA5DC5}"/>
              </a:ext>
            </a:extLst>
          </p:cNvPr>
          <p:cNvSpPr/>
          <p:nvPr/>
        </p:nvSpPr>
        <p:spPr>
          <a:xfrm>
            <a:off x="5214363" y="1203347"/>
            <a:ext cx="2298673" cy="720000"/>
          </a:xfrm>
          <a:prstGeom prst="rect">
            <a:avLst/>
          </a:prstGeom>
          <a:ln w="76200">
            <a:solidFill>
              <a:schemeClr val="accent6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NL" dirty="0"/>
              <a:t>Total Forecast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20513CC9-D608-3B93-193A-25070084F4D6}"/>
              </a:ext>
            </a:extLst>
          </p:cNvPr>
          <p:cNvCxnSpPr>
            <a:cxnSpLocks/>
            <a:stCxn id="14" idx="2"/>
            <a:endCxn id="6" idx="0"/>
          </p:cNvCxnSpPr>
          <p:nvPr/>
        </p:nvCxnSpPr>
        <p:spPr>
          <a:xfrm rot="16200000" flipH="1">
            <a:off x="6644123" y="1642923"/>
            <a:ext cx="801318" cy="136216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BF380227-3418-1C6A-107E-BF816B44D16D}"/>
              </a:ext>
            </a:extLst>
          </p:cNvPr>
          <p:cNvCxnSpPr>
            <a:cxnSpLocks/>
            <a:stCxn id="14" idx="2"/>
            <a:endCxn id="7" idx="0"/>
          </p:cNvCxnSpPr>
          <p:nvPr/>
        </p:nvCxnSpPr>
        <p:spPr>
          <a:xfrm rot="16200000" flipH="1">
            <a:off x="7971874" y="315173"/>
            <a:ext cx="801318" cy="401766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39E50D51-ABBE-4577-6818-69D545FB175A}"/>
              </a:ext>
            </a:extLst>
          </p:cNvPr>
          <p:cNvCxnSpPr>
            <a:cxnSpLocks/>
            <a:stCxn id="14" idx="2"/>
            <a:endCxn id="5" idx="0"/>
          </p:cNvCxnSpPr>
          <p:nvPr/>
        </p:nvCxnSpPr>
        <p:spPr>
          <a:xfrm rot="5400000">
            <a:off x="5316373" y="1677338"/>
            <a:ext cx="801318" cy="129333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A4F1C193-A3A2-5D40-1A50-8FDE30DD548D}"/>
              </a:ext>
            </a:extLst>
          </p:cNvPr>
          <p:cNvCxnSpPr>
            <a:cxnSpLocks/>
            <a:stCxn id="14" idx="2"/>
            <a:endCxn id="4" idx="0"/>
          </p:cNvCxnSpPr>
          <p:nvPr/>
        </p:nvCxnSpPr>
        <p:spPr>
          <a:xfrm rot="5400000">
            <a:off x="3988623" y="349588"/>
            <a:ext cx="801318" cy="394883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3175BA55-DF87-18BD-F96D-1C51634FB9B7}"/>
              </a:ext>
            </a:extLst>
          </p:cNvPr>
          <p:cNvCxnSpPr>
            <a:stCxn id="4" idx="2"/>
            <a:endCxn id="9" idx="0"/>
          </p:cNvCxnSpPr>
          <p:nvPr/>
        </p:nvCxnSpPr>
        <p:spPr>
          <a:xfrm>
            <a:off x="2414863" y="4133335"/>
            <a:ext cx="0" cy="9644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5735A6B3-A613-8321-25E2-21809672AB51}"/>
              </a:ext>
            </a:extLst>
          </p:cNvPr>
          <p:cNvCxnSpPr>
            <a:cxnSpLocks/>
            <a:stCxn id="5" idx="2"/>
            <a:endCxn id="9" idx="0"/>
          </p:cNvCxnSpPr>
          <p:nvPr/>
        </p:nvCxnSpPr>
        <p:spPr>
          <a:xfrm flipH="1">
            <a:off x="2414863" y="4133335"/>
            <a:ext cx="2655501" cy="9644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8A1F0EB4-E21B-0D0C-F4B7-3A311647BA00}"/>
              </a:ext>
            </a:extLst>
          </p:cNvPr>
          <p:cNvCxnSpPr>
            <a:cxnSpLocks/>
            <a:stCxn id="6" idx="2"/>
            <a:endCxn id="10" idx="0"/>
          </p:cNvCxnSpPr>
          <p:nvPr/>
        </p:nvCxnSpPr>
        <p:spPr>
          <a:xfrm>
            <a:off x="7725865" y="4133335"/>
            <a:ext cx="2655500" cy="92116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873AC471-5EAE-0262-4C4B-00A1CD801058}"/>
              </a:ext>
            </a:extLst>
          </p:cNvPr>
          <p:cNvCxnSpPr>
            <a:cxnSpLocks/>
            <a:stCxn id="7" idx="2"/>
            <a:endCxn id="10" idx="0"/>
          </p:cNvCxnSpPr>
          <p:nvPr/>
        </p:nvCxnSpPr>
        <p:spPr>
          <a:xfrm flipH="1">
            <a:off x="10381365" y="4133335"/>
            <a:ext cx="1" cy="92116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B78E3E8D-4910-37B1-BDB8-C4D1C83E34BF}"/>
              </a:ext>
            </a:extLst>
          </p:cNvPr>
          <p:cNvCxnSpPr>
            <a:cxnSpLocks/>
            <a:stCxn id="5" idx="2"/>
            <a:endCxn id="12" idx="0"/>
          </p:cNvCxnSpPr>
          <p:nvPr/>
        </p:nvCxnSpPr>
        <p:spPr>
          <a:xfrm>
            <a:off x="5070364" y="4133335"/>
            <a:ext cx="2655501" cy="9644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80F11F56-E67E-110F-0F61-880CB50A4321}"/>
              </a:ext>
            </a:extLst>
          </p:cNvPr>
          <p:cNvCxnSpPr>
            <a:stCxn id="7" idx="2"/>
            <a:endCxn id="12" idx="0"/>
          </p:cNvCxnSpPr>
          <p:nvPr/>
        </p:nvCxnSpPr>
        <p:spPr>
          <a:xfrm flipH="1">
            <a:off x="7725865" y="4133335"/>
            <a:ext cx="2655501" cy="9644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7D7CD799-7264-AB7B-FDF3-D2B6D2BCF47A}"/>
              </a:ext>
            </a:extLst>
          </p:cNvPr>
          <p:cNvCxnSpPr>
            <a:cxnSpLocks/>
            <a:stCxn id="6" idx="2"/>
            <a:endCxn id="11" idx="0"/>
          </p:cNvCxnSpPr>
          <p:nvPr/>
        </p:nvCxnSpPr>
        <p:spPr>
          <a:xfrm flipH="1">
            <a:off x="5015650" y="4133335"/>
            <a:ext cx="2710215" cy="96441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E49BFE9B-FE1C-92E2-DCBE-637220BD2A2D}"/>
              </a:ext>
            </a:extLst>
          </p:cNvPr>
          <p:cNvCxnSpPr>
            <a:cxnSpLocks/>
            <a:stCxn id="4" idx="2"/>
            <a:endCxn id="11" idx="0"/>
          </p:cNvCxnSpPr>
          <p:nvPr/>
        </p:nvCxnSpPr>
        <p:spPr>
          <a:xfrm>
            <a:off x="2414863" y="4133335"/>
            <a:ext cx="2600787" cy="96441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9FADB510-E37C-7E09-0D2F-51D085C69D87}"/>
              </a:ext>
            </a:extLst>
          </p:cNvPr>
          <p:cNvSpPr txBox="1"/>
          <p:nvPr/>
        </p:nvSpPr>
        <p:spPr>
          <a:xfrm rot="16200000">
            <a:off x="28242" y="1158632"/>
            <a:ext cx="113428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Top-level</a:t>
            </a:r>
          </a:p>
          <a:p>
            <a:r>
              <a:rPr lang="en-NL" dirty="0"/>
              <a:t>forecasts</a:t>
            </a:r>
          </a:p>
        </p:txBody>
      </p: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926F1A7D-91C3-0B58-1FE4-A62127350BFA}"/>
              </a:ext>
            </a:extLst>
          </p:cNvPr>
          <p:cNvCxnSpPr/>
          <p:nvPr/>
        </p:nvCxnSpPr>
        <p:spPr>
          <a:xfrm>
            <a:off x="272218" y="2201703"/>
            <a:ext cx="11652052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C08EA4DF-7229-5742-5265-C27C5DC25F82}"/>
              </a:ext>
            </a:extLst>
          </p:cNvPr>
          <p:cNvCxnSpPr/>
          <p:nvPr/>
        </p:nvCxnSpPr>
        <p:spPr>
          <a:xfrm>
            <a:off x="269974" y="4615542"/>
            <a:ext cx="11652052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382AD7C3-7B6E-FED5-96E5-E6E228642D0E}"/>
              </a:ext>
            </a:extLst>
          </p:cNvPr>
          <p:cNvSpPr txBox="1"/>
          <p:nvPr/>
        </p:nvSpPr>
        <p:spPr>
          <a:xfrm>
            <a:off x="4724557" y="364745"/>
            <a:ext cx="327828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NL" sz="2400" dirty="0"/>
              <a:t>Top-Down Approach</a:t>
            </a:r>
          </a:p>
        </p:txBody>
      </p:sp>
    </p:spTree>
    <p:extLst>
      <p:ext uri="{BB962C8B-B14F-4D97-AF65-F5344CB8AC3E}">
        <p14:creationId xmlns:p14="http://schemas.microsoft.com/office/powerpoint/2010/main" val="31520792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36782</TotalTime>
  <Words>80</Words>
  <Application>Microsoft Macintosh PowerPoint</Application>
  <PresentationFormat>Widescreen</PresentationFormat>
  <Paragraphs>32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Dmitry Luchkin</dc:creator>
  <cp:lastModifiedBy>Dmitry Luchkin</cp:lastModifiedBy>
  <cp:revision>1</cp:revision>
  <dcterms:created xsi:type="dcterms:W3CDTF">2025-03-30T19:39:59Z</dcterms:created>
  <dcterms:modified xsi:type="dcterms:W3CDTF">2025-04-25T08:42:46Z</dcterms:modified>
</cp:coreProperties>
</file>